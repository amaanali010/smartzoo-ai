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E8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C69-47C0-8C2B-2F77EF61163F}"/>
              </c:ext>
            </c:extLst>
          </c:dPt>
          <c:dPt>
            <c:idx val="1"/>
            <c:invertIfNegative val="0"/>
            <c:bubble3D val="0"/>
            <c:spPr>
              <a:solidFill>
                <a:srgbClr val="00C4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C69-47C0-8C2B-2F77EF61163F}"/>
              </c:ext>
            </c:extLst>
          </c:dPt>
          <c:dPt>
            <c:idx val="2"/>
            <c:invertIfNegative val="0"/>
            <c:bubble3D val="0"/>
            <c:spPr>
              <a:solidFill>
                <a:srgbClr val="FFC8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C69-47C0-8C2B-2F77EF61163F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C69-47C0-8C2B-2F77EF6116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E8F5E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Top-1</c:v>
                </c:pt>
                <c:pt idx="1">
                  <c:v>Top-3</c:v>
                </c:pt>
                <c:pt idx="2">
                  <c:v>Validation</c:v>
                </c:pt>
                <c:pt idx="3">
                  <c:v>Training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92</c:v>
                </c:pt>
                <c:pt idx="2">
                  <c:v>83</c:v>
                </c:pt>
                <c:pt idx="3">
                  <c:v>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C69-47C0-8C2B-2F77EF6116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66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3D66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66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01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97296" y="-603504"/>
            <a:ext cx="3950208" cy="3950208"/>
          </a:xfrm>
          <a:prstGeom prst="ellipse">
            <a:avLst/>
          </a:prstGeom>
          <a:solidFill>
            <a:srgbClr val="00E87A">
              <a:alpha val="8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73368" y="-27432"/>
            <a:ext cx="2798064" cy="2798064"/>
          </a:xfrm>
          <a:prstGeom prst="ellipse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7144" y="466344"/>
            <a:ext cx="1810512" cy="1810512"/>
          </a:xfrm>
          <a:prstGeom prst="ellipse">
            <a:avLst/>
          </a:prstGeom>
          <a:solidFill>
            <a:srgbClr val="00E87A">
              <a:alpha val="4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2798064"/>
            <a:ext cx="2633472" cy="2633472"/>
          </a:xfrm>
          <a:prstGeom prst="ellipse">
            <a:avLst/>
          </a:prstGeom>
          <a:solidFill>
            <a:srgbClr val="00C4B4">
              <a:alpha val="6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3182112"/>
            <a:ext cx="1865376" cy="1865376"/>
          </a:xfrm>
          <a:prstGeom prst="ellipse">
            <a:avLst/>
          </a:prstGeom>
          <a:solidFill>
            <a:srgbClr val="00C4B4">
              <a:alpha val="1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3511296"/>
            <a:ext cx="1207008" cy="1207008"/>
          </a:xfrm>
          <a:prstGeom prst="ellipse">
            <a:avLst/>
          </a:prstGeom>
          <a:solidFill>
            <a:srgbClr val="00C4B4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146304"/>
            <a:ext cx="4828032" cy="4828032"/>
          </a:xfrm>
          <a:prstGeom prst="ellipse">
            <a:avLst/>
          </a:prstGeom>
          <a:solidFill>
            <a:srgbClr val="00E87A">
              <a:alpha val="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850392"/>
            <a:ext cx="3419856" cy="3419856"/>
          </a:xfrm>
          <a:prstGeom prst="ellipse">
            <a:avLst/>
          </a:prstGeom>
          <a:solidFill>
            <a:srgbClr val="00E87A">
              <a:alpha val="125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5576" y="1453896"/>
            <a:ext cx="2212848" cy="2212848"/>
          </a:xfrm>
          <a:prstGeom prst="ellipse">
            <a:avLst/>
          </a:prstGeom>
          <a:solidFill>
            <a:srgbClr val="00E87A">
              <a:alpha val="2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2821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3250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464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8893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599" y="640080"/>
            <a:ext cx="6574535" cy="3840480"/>
          </a:xfrm>
          <a:prstGeom prst="rect">
            <a:avLst/>
          </a:prstGeom>
          <a:solidFill>
            <a:srgbClr val="0A1810">
              <a:alpha val="70000"/>
            </a:srgbClr>
          </a:solidFill>
          <a:ln w="10160">
            <a:solidFill>
              <a:srgbClr val="00E87A"/>
            </a:solidFill>
            <a:prstDash val="solid"/>
          </a:ln>
          <a:effectLst>
            <a:outerShdw blurRad="381000" dist="1016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371600" y="640080"/>
            <a:ext cx="6400800" cy="2286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82296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🦁</a:t>
            </a:r>
            <a:endParaRPr lang="en-US" sz="5800" dirty="0"/>
          </a:p>
        </p:txBody>
      </p:sp>
      <p:sp>
        <p:nvSpPr>
          <p:cNvPr id="45" name="Text 43"/>
          <p:cNvSpPr/>
          <p:nvPr/>
        </p:nvSpPr>
        <p:spPr>
          <a:xfrm>
            <a:off x="1463040" y="1691640"/>
            <a:ext cx="6217920" cy="82296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SmartZoo AI</a:t>
            </a:r>
            <a:endParaRPr lang="en-US" sz="4400" dirty="0"/>
          </a:p>
        </p:txBody>
      </p:sp>
      <p:sp>
        <p:nvSpPr>
          <p:cNvPr id="46" name="Shape 44"/>
          <p:cNvSpPr/>
          <p:nvPr/>
        </p:nvSpPr>
        <p:spPr>
          <a:xfrm>
            <a:off x="2286000" y="2542032"/>
            <a:ext cx="4572000" cy="36576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63040" y="259689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Animal Classification + RAG Knowledge Base System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1417320" y="3063240"/>
            <a:ext cx="1207008" cy="274320"/>
          </a:xfrm>
          <a:prstGeom prst="rect">
            <a:avLst/>
          </a:prstGeom>
          <a:solidFill>
            <a:srgbClr val="00E87A">
              <a:alpha val="18000"/>
            </a:srgbClr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17320" y="3063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90 Species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34056" y="3063240"/>
            <a:ext cx="1207008" cy="274320"/>
          </a:xfrm>
          <a:prstGeom prst="rect">
            <a:avLst/>
          </a:prstGeom>
          <a:solidFill>
            <a:srgbClr val="00E87A">
              <a:alpha val="18000"/>
            </a:srgbClr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34056" y="3063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Groq LLM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050792" y="3063240"/>
            <a:ext cx="1207008" cy="274320"/>
          </a:xfrm>
          <a:prstGeom prst="rect">
            <a:avLst/>
          </a:prstGeom>
          <a:solidFill>
            <a:srgbClr val="00E87A">
              <a:alpha val="18000"/>
            </a:srgbClr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50792" y="3063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EN+UR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67528" y="3063240"/>
            <a:ext cx="1207008" cy="274320"/>
          </a:xfrm>
          <a:prstGeom prst="rect">
            <a:avLst/>
          </a:prstGeom>
          <a:solidFill>
            <a:srgbClr val="00E87A">
              <a:alpha val="18000"/>
            </a:srgbClr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67528" y="3063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Voice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684264" y="3063240"/>
            <a:ext cx="1207008" cy="274320"/>
          </a:xfrm>
          <a:prstGeom prst="rect">
            <a:avLst/>
          </a:prstGeom>
          <a:solidFill>
            <a:srgbClr val="00E87A">
              <a:alpha val="18000"/>
            </a:srgbClr>
          </a:solidFill>
          <a:ln w="10160">
            <a:solidFill>
              <a:srgbClr val="00E87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84264" y="306324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RAG System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828800" y="3493008"/>
            <a:ext cx="5486400" cy="0"/>
          </a:xfrm>
          <a:prstGeom prst="line">
            <a:avLst/>
          </a:prstGeom>
          <a:noFill/>
          <a:ln w="6350">
            <a:solidFill>
              <a:srgbClr val="00E87A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63040" y="35661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Leader: Syed Amaan Ali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463040" y="3840480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Sana Zeb  ·  Menahil Junaid Khan  ·  Masooma Fatima  ·  Ashraf Ali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463040" y="41605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TensorFlow · MobileNetV2 · Groq LLM · Helsinki-NLP · RAG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36208" y="-438912"/>
            <a:ext cx="3072384" cy="3072384"/>
          </a:xfrm>
          <a:prstGeom prst="ellipse">
            <a:avLst/>
          </a:prstGeom>
          <a:solidFill>
            <a:srgbClr val="FF5E7D">
              <a:alpha val="8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84264" y="9144"/>
            <a:ext cx="2176272" cy="2176272"/>
          </a:xfrm>
          <a:prstGeom prst="ellipse">
            <a:avLst/>
          </a:prstGeom>
          <a:solidFill>
            <a:srgbClr val="FF5E7D">
              <a:alpha val="20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68312" y="393192"/>
            <a:ext cx="1408176" cy="1408176"/>
          </a:xfrm>
          <a:prstGeom prst="ellipse">
            <a:avLst/>
          </a:prstGeom>
          <a:solidFill>
            <a:srgbClr val="FF5E7D">
              <a:alpha val="40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FF5E7D">
              <a:alpha val="18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PROBLEM STATEMENT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66344" y="1124712"/>
            <a:ext cx="3291840" cy="141732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051560"/>
            <a:ext cx="3291840" cy="1417320"/>
          </a:xfrm>
          <a:prstGeom prst="rect">
            <a:avLst/>
          </a:prstGeom>
          <a:solidFill>
            <a:srgbClr val="112219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051560"/>
            <a:ext cx="329184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1101852"/>
            <a:ext cx="1975104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1430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SmartZoo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14173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interactive platform that identifies 90+ animal species from photos and enables AI-powered wildlife chat — in both English and Urdu. Now with RAG knowledge retrieval.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" y="2651760"/>
            <a:ext cx="3291840" cy="59436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78608"/>
            <a:ext cx="3291840" cy="594360"/>
          </a:xfrm>
          <a:prstGeom prst="rect">
            <a:avLst/>
          </a:prstGeom>
          <a:solidFill>
            <a:srgbClr val="112219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578608"/>
            <a:ext cx="329184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2628900"/>
            <a:ext cx="1975104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700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"SmartZoo AI was built to solve all three — fast, accessible, and bilingual."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31920" y="98755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THREE CORE PROBLEMS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86784" y="1316736"/>
            <a:ext cx="4754880" cy="841248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1243584"/>
            <a:ext cx="4754880" cy="841248"/>
          </a:xfrm>
          <a:prstGeom prst="rect">
            <a:avLst/>
          </a:prstGeom>
          <a:solidFill>
            <a:srgbClr val="0D1E14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0" y="1243584"/>
            <a:ext cx="475488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50208" y="1293876"/>
            <a:ext cx="285292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140817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53712" y="13624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53712" y="16184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animal lookups are slow — no instant identification field tool exists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86784" y="2304288"/>
            <a:ext cx="4754880" cy="841248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0" y="2231136"/>
            <a:ext cx="4754880" cy="841248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31920" y="2231136"/>
            <a:ext cx="47548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50208" y="2281428"/>
            <a:ext cx="285292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2395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53712" y="23500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Gap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53712" y="2606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specialist zoology knowledge that most students lack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86784" y="3291840"/>
            <a:ext cx="4754880" cy="841248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3218688"/>
            <a:ext cx="4754880" cy="841248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31920" y="3218688"/>
            <a:ext cx="475488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50208" y="3268980"/>
            <a:ext cx="285292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41648" y="33832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53712" y="3337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Wall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53712" y="35935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wildlife tools support Urdu — millions of Urdu speakers are excluded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188720"/>
            <a:ext cx="3291840" cy="3291840"/>
          </a:xfrm>
          <a:prstGeom prst="ellipse">
            <a:avLst/>
          </a:prstGeom>
          <a:solidFill>
            <a:srgbClr val="00C4B4">
              <a:alpha val="9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3740" y="-708660"/>
            <a:ext cx="2331720" cy="2331720"/>
          </a:xfrm>
          <a:prstGeom prst="ellipse">
            <a:avLst/>
          </a:prstGeom>
          <a:solidFill>
            <a:srgbClr val="00C4B4">
              <a:alpha val="225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5220" y="-297180"/>
            <a:ext cx="1508760" cy="1508760"/>
          </a:xfrm>
          <a:prstGeom prst="ellipse">
            <a:avLst/>
          </a:prstGeom>
          <a:solidFill>
            <a:srgbClr val="00C4B4">
              <a:alpha val="4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859536" y="3255264"/>
            <a:ext cx="2633472" cy="2633472"/>
          </a:xfrm>
          <a:prstGeom prst="ellipse">
            <a:avLst/>
          </a:prstGeom>
          <a:solidFill>
            <a:srgbClr val="00E87A">
              <a:alpha val="7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75488" y="3639312"/>
            <a:ext cx="1865376" cy="1865376"/>
          </a:xfrm>
          <a:prstGeom prst="ellipse">
            <a:avLst/>
          </a:prstGeom>
          <a:solidFill>
            <a:srgbClr val="00E87A">
              <a:alpha val="175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46304" y="3968496"/>
            <a:ext cx="1207008" cy="1207008"/>
          </a:xfrm>
          <a:prstGeom prst="ellipse">
            <a:avLst/>
          </a:prstGeom>
          <a:solidFill>
            <a:srgbClr val="00E87A">
              <a:alpha val="3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00C4B4">
              <a:alpha val="18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PROBLEM SOLUTION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SmartZoo AI Solves It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20624" y="107899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00584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005840"/>
            <a:ext cx="27889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05613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Recognition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" y="166420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predicts in &lt;0.1s — no manual lookup needed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46704" y="107899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00584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005840"/>
            <a:ext cx="27889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105613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02336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9856" y="166420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70B answers factual wildlife questions in plain language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72784" y="107899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00584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005840"/>
            <a:ext cx="278892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36208" y="105613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1188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4944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Support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45936" y="166420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 translates every response — full English + Urdu coverage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0624" y="299923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92608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926080"/>
            <a:ext cx="27889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297637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109728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3776" y="358444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Large V3 — speak your question, no typing required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46704" y="299923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91840" y="292608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91840" y="2926080"/>
            <a:ext cx="27889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10128" y="297637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9856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402336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419856" y="358444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animals_data.json as vector store — retrieves facts before LLM generates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72784" y="299923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92608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2926080"/>
            <a:ext cx="27889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36208" y="297637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5936" y="31089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949440" y="3108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Browser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45936" y="3584448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no install, no expertise barrier for any user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4846320"/>
            <a:ext cx="8412480" cy="192024"/>
          </a:xfrm>
          <a:prstGeom prst="rect">
            <a:avLst/>
          </a:prstGeom>
          <a:solidFill>
            <a:srgbClr val="00C4B4">
              <a:alpha val="1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846320"/>
            <a:ext cx="8412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not just a classifier — it's an interactive wildlife learning system."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097280"/>
            <a:ext cx="3291840" cy="3291840"/>
          </a:xfrm>
          <a:prstGeom prst="ellipse">
            <a:avLst/>
          </a:prstGeom>
          <a:solidFill>
            <a:srgbClr val="FFC84A">
              <a:alpha val="7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20940" y="1577340"/>
            <a:ext cx="2331720" cy="2331720"/>
          </a:xfrm>
          <a:prstGeom prst="ellipse">
            <a:avLst/>
          </a:prstGeom>
          <a:solidFill>
            <a:srgbClr val="FFC84A">
              <a:alpha val="175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2420" y="1988820"/>
            <a:ext cx="1508760" cy="1508760"/>
          </a:xfrm>
          <a:prstGeom prst="ellipse">
            <a:avLst/>
          </a:prstGeom>
          <a:solidFill>
            <a:srgbClr val="FFC84A">
              <a:alpha val="35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FFC84A">
              <a:alpha val="18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TECHNOLOGY STACK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 Used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0624" y="112471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05156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051560"/>
            <a:ext cx="27889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110185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1234440"/>
            <a:ext cx="201168" cy="20116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" y="1641348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" y="1915668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847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" y="2189988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" y="2464308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957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Regularization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46704" y="112471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05156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1051560"/>
            <a:ext cx="27889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0128" y="110185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9856" y="1234440"/>
            <a:ext cx="201168" cy="20116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4176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NLP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38144" y="164134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38144" y="191566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1847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Versatile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38144" y="218998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 Opus-MT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38144" y="246430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3957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 v3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72784" y="112471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05156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7920" y="1051560"/>
            <a:ext cx="278892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6208" y="110185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1234440"/>
            <a:ext cx="201168" cy="20116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64224" y="164134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15727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64224" y="191566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184708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Charts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64224" y="218998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1214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(Dark Theme)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64224" y="246430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23957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0624" y="304495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297180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2971800"/>
            <a:ext cx="27889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4048" y="302209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3776" y="3154680"/>
            <a:ext cx="20116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8096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Data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2064" y="356158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animals_data.json (KB)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12064" y="383590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37673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2064" y="411022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Vector Store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2064" y="4384548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315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Retrieve→Augment→Generate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346704" y="304495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91840" y="297180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91840" y="2971800"/>
            <a:ext cx="278892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10128" y="302209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19856" y="3154680"/>
            <a:ext cx="201168" cy="201168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94176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438144" y="3561588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56616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438144" y="3835908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66160" y="37673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Pillow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38144" y="4110228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6616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38144" y="4384548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66160" y="4315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Image Dataset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272784" y="3044952"/>
            <a:ext cx="2788920" cy="17190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17920" y="2971800"/>
            <a:ext cx="2788920" cy="1719072"/>
          </a:xfrm>
          <a:prstGeom prst="rect">
            <a:avLst/>
          </a:prstGeom>
          <a:solidFill>
            <a:srgbClr val="112219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217920" y="2971800"/>
            <a:ext cx="27889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236208" y="3022092"/>
            <a:ext cx="167335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45936" y="3154680"/>
            <a:ext cx="201168" cy="20116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20256" y="3127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364224" y="356158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9224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6364224" y="383590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92240" y="376732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364224" y="411022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492240" y="404164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Cloud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364224" y="4384548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92240" y="43159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20624" y="4892040"/>
            <a:ext cx="8412480" cy="2560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solidFill>
            <a:srgbClr val="142B1E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365760" y="4818888"/>
            <a:ext cx="84124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84048" y="4869180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Streamlit Web App   ·   Platform: Browser-based   ·   Language: Python 3.x   ·   RAG: animals_data.json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0C4B4">
              <a:alpha val="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28900" y="1257300"/>
            <a:ext cx="3886200" cy="3886200"/>
          </a:xfrm>
          <a:prstGeom prst="ellipse">
            <a:avLst/>
          </a:prstGeom>
          <a:solidFill>
            <a:srgbClr val="00C4B4">
              <a:alpha val="125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14700" y="1943100"/>
            <a:ext cx="2514600" cy="2514600"/>
          </a:xfrm>
          <a:prstGeom prst="ellipse">
            <a:avLst/>
          </a:prstGeom>
          <a:solidFill>
            <a:srgbClr val="00C4B4">
              <a:alpha val="2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00C4B4">
              <a:alpha val="18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ARCHITECTURE DIAGRAM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PIPELINE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12064" y="1261872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188720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188720"/>
            <a:ext cx="14173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239012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243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162763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74520" y="1545336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7964" y="14356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40864" y="1261872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1188720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0" y="1188720"/>
            <a:ext cx="14173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04288" y="1239012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1243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86000" y="162763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/ norm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703320" y="1545336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26764" y="14356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9664" y="1261872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1188720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1188720"/>
            <a:ext cx="141732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3088" y="1239012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1243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162763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32120" y="1545336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5564" y="14356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98464" y="1261872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1188720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1188720"/>
            <a:ext cx="141732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61888" y="1239012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1243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43600" y="162763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60920" y="1545336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4364" y="1435608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827264" y="1261872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0" y="1188720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772400" y="1188720"/>
            <a:ext cx="14173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90688" y="1239012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124358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772400" y="162763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Chart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57200" y="20574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AI CHAT PIPELINE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12064" y="2340864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2267712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2267712"/>
            <a:ext cx="14173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" y="2318004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2322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57200" y="27066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Voice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874520" y="2624328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97964" y="25146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340864" y="2340864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286000" y="2267712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286000" y="2267712"/>
            <a:ext cx="141732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04288" y="2318004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0" y="2322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286000" y="27066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703320" y="2624328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26764" y="25146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169664" y="2340864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267712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114800" y="2267712"/>
            <a:ext cx="141732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33088" y="2318004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2322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114800" y="27066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animals_data.json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532120" y="2624328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55564" y="25146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998464" y="2340864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43600" y="2267712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943600" y="2267712"/>
            <a:ext cx="141732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61888" y="2318004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2322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43600" y="27066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7360920" y="2624328"/>
            <a:ext cx="411480" cy="0"/>
          </a:xfrm>
          <a:prstGeom prst="line">
            <a:avLst/>
          </a:prstGeom>
          <a:noFill/>
          <a:ln w="19050">
            <a:solidFill>
              <a:srgbClr val="3D665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84364" y="2514600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827264" y="2340864"/>
            <a:ext cx="1417320" cy="71323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72400" y="2267712"/>
            <a:ext cx="1417320" cy="713232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772400" y="2267712"/>
            <a:ext cx="141732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90688" y="2318004"/>
            <a:ext cx="850392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0" y="2322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Urdu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772400" y="2706624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20624" y="3227832"/>
            <a:ext cx="8412480" cy="50292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5760" y="3154680"/>
            <a:ext cx="8412480" cy="502920"/>
          </a:xfrm>
          <a:prstGeom prst="rect">
            <a:avLst/>
          </a:prstGeom>
          <a:solidFill>
            <a:srgbClr val="142B1E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365760" y="3154680"/>
            <a:ext cx="84124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84048" y="3204972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32004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41732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41732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Name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265176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65176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388620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88620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· Diet · Conservation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2064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2064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Retrieved Fact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35508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35508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Answer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589520" y="3273552"/>
            <a:ext cx="1115568" cy="228600"/>
          </a:xfrm>
          <a:prstGeom prst="rect">
            <a:avLst/>
          </a:prstGeom>
          <a:solidFill>
            <a:srgbClr val="00E87A">
              <a:alpha val="20000"/>
            </a:srgbClr>
          </a:solidFill>
          <a:ln w="7620">
            <a:solidFill>
              <a:srgbClr val="00E87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89520" y="3273552"/>
            <a:ext cx="1115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اردو Translation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20624" y="3895344"/>
            <a:ext cx="8412480" cy="34747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365760" y="3822192"/>
            <a:ext cx="8412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4048" y="3872484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02920" y="3858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All components run inside a Streamlit web application with bilingual dark-theme UI, voice input, interactive Plotly charts, and RAG knowledge retrieval.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457200" y="4279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at a Glance</a:t>
            </a:r>
            <a:endParaRPr lang="en-US" sz="800" dirty="0"/>
          </a:p>
        </p:txBody>
      </p:sp>
      <p:graphicFrame>
        <p:nvGraphicFramePr>
          <p:cNvPr id="112" name="Chart 0"/>
          <p:cNvGraphicFramePr/>
          <p:nvPr/>
        </p:nvGraphicFramePr>
        <p:xfrm>
          <a:off x="365760" y="4443984"/>
          <a:ext cx="8412480" cy="54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Shape 110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914400"/>
            <a:ext cx="3291840" cy="3291840"/>
          </a:xfrm>
          <a:prstGeom prst="ellipse">
            <a:avLst/>
          </a:prstGeom>
          <a:solidFill>
            <a:srgbClr val="FF5E7D">
              <a:alpha val="8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63740" y="1394460"/>
            <a:ext cx="2331720" cy="2331720"/>
          </a:xfrm>
          <a:prstGeom prst="ellipse">
            <a:avLst/>
          </a:prstGeom>
          <a:solidFill>
            <a:srgbClr val="FF5E7D">
              <a:alpha val="20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75220" y="1805940"/>
            <a:ext cx="1508760" cy="1508760"/>
          </a:xfrm>
          <a:prstGeom prst="ellipse">
            <a:avLst/>
          </a:prstGeom>
          <a:solidFill>
            <a:srgbClr val="FF5E7D">
              <a:alpha val="40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474720"/>
            <a:ext cx="2194560" cy="2194560"/>
          </a:xfrm>
          <a:prstGeom prst="ellipse">
            <a:avLst/>
          </a:prstGeom>
          <a:solidFill>
            <a:srgbClr val="FFC84A">
              <a:alpha val="7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3794760"/>
            <a:ext cx="1554480" cy="1554480"/>
          </a:xfrm>
          <a:prstGeom prst="ellipse">
            <a:avLst/>
          </a:prstGeom>
          <a:solidFill>
            <a:srgbClr val="FFC84A">
              <a:alpha val="175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4069080"/>
            <a:ext cx="1005840" cy="1005840"/>
          </a:xfrm>
          <a:prstGeom prst="ellipse">
            <a:avLst/>
          </a:prstGeom>
          <a:solidFill>
            <a:srgbClr val="FFC84A">
              <a:alpha val="35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FF5E7D">
              <a:alpha val="18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LIVE DEMO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Walkthrough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20624" y="1060704"/>
            <a:ext cx="8412480" cy="6858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987552"/>
            <a:ext cx="8412480" cy="685800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987552"/>
            <a:ext cx="84124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037844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1170432"/>
            <a:ext cx="329184" cy="329184"/>
          </a:xfrm>
          <a:prstGeom prst="ellipse">
            <a:avLst/>
          </a:prstGeom>
          <a:solidFill>
            <a:srgbClr val="00E87A">
              <a:alpha val="80000"/>
            </a:srgbClr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110642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31920" y="1106424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animal photo (JPG/PNG/WebP). PIL resizes to 224×224 for MobileNetV2.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1078992"/>
            <a:ext cx="0" cy="502920"/>
          </a:xfrm>
          <a:prstGeom prst="line">
            <a:avLst/>
          </a:prstGeom>
          <a:noFill/>
          <a:ln w="8890">
            <a:solidFill>
              <a:srgbClr val="00E87A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1856232"/>
            <a:ext cx="8412480" cy="6858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783080"/>
            <a:ext cx="8412480" cy="685800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1783080"/>
            <a:ext cx="841248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1833372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1965960"/>
            <a:ext cx="329184" cy="329184"/>
          </a:xfrm>
          <a:prstGeom prst="ellipse">
            <a:avLst/>
          </a:prstGeom>
          <a:solidFill>
            <a:srgbClr val="00C4B4">
              <a:alpha val="80000"/>
            </a:srgbClr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190195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31920" y="1901952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infers in &lt;0.1s. Plotly renders Top-5 confidence bar chart.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94760" y="1874520"/>
            <a:ext cx="0" cy="502920"/>
          </a:xfrm>
          <a:prstGeom prst="line">
            <a:avLst/>
          </a:prstGeom>
          <a:noFill/>
          <a:ln w="8890">
            <a:solidFill>
              <a:srgbClr val="00C4B4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" y="2651760"/>
            <a:ext cx="8412480" cy="6858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578608"/>
            <a:ext cx="8412480" cy="685800"/>
          </a:xfrm>
          <a:prstGeom prst="rect">
            <a:avLst/>
          </a:prstGeom>
          <a:solidFill>
            <a:srgbClr val="0D1E14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2578608"/>
            <a:ext cx="841248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2628900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2761488"/>
            <a:ext cx="329184" cy="329184"/>
          </a:xfrm>
          <a:prstGeom prst="ellipse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2697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Lookup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931920" y="269748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animals_data.json queried for habitat, diet, conservation, fun fact &amp; more.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94760" y="2670048"/>
            <a:ext cx="0" cy="502920"/>
          </a:xfrm>
          <a:prstGeom prst="line">
            <a:avLst/>
          </a:prstGeom>
          <a:noFill/>
          <a:ln w="889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" y="3447288"/>
            <a:ext cx="8412480" cy="6858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3374136"/>
            <a:ext cx="8412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3424428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" y="3557016"/>
            <a:ext cx="329184" cy="329184"/>
          </a:xfrm>
          <a:prstGeom prst="ellipse">
            <a:avLst/>
          </a:prstGeom>
          <a:solidFill>
            <a:srgbClr val="FFC84A">
              <a:alpha val="80000"/>
            </a:srgbClr>
          </a:solidFill>
          <a:ln w="19050">
            <a:solidFill>
              <a:srgbClr val="FFC8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3557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4400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(Text/Voice)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931920" y="3493008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transcribes voice. Groq LLM generates factual, strict response.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94760" y="3465576"/>
            <a:ext cx="0" cy="502920"/>
          </a:xfrm>
          <a:prstGeom prst="line">
            <a:avLst/>
          </a:prstGeom>
          <a:noFill/>
          <a:ln w="8890">
            <a:solidFill>
              <a:srgbClr val="FFC84A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" y="4242816"/>
            <a:ext cx="8412480" cy="68580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169664"/>
            <a:ext cx="8412480" cy="685800"/>
          </a:xfrm>
          <a:prstGeom prst="rect">
            <a:avLst/>
          </a:prstGeom>
          <a:solidFill>
            <a:srgbClr val="0D1E14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65760" y="4169664"/>
            <a:ext cx="841248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4048" y="4219956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" y="4352544"/>
            <a:ext cx="329184" cy="329184"/>
          </a:xfrm>
          <a:prstGeom prst="ellipse">
            <a:avLst/>
          </a:prstGeom>
          <a:solidFill>
            <a:srgbClr val="FF5E7D">
              <a:alpha val="80000"/>
            </a:srgbClr>
          </a:solidFill>
          <a:ln w="19050">
            <a:solidFill>
              <a:srgbClr val="FF5E7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14400" y="42885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Urdu Mode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931920" y="4288536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 translates every AI answer. Full اردو bilingual experience.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94760" y="4261104"/>
            <a:ext cx="0" cy="502920"/>
          </a:xfrm>
          <a:prstGeom prst="line">
            <a:avLst/>
          </a:prstGeom>
          <a:noFill/>
          <a:ln w="8890">
            <a:solidFill>
              <a:srgbClr val="FF5E7D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0624" y="5038344"/>
            <a:ext cx="8412480" cy="9144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5760" y="4965192"/>
            <a:ext cx="8412480" cy="91440"/>
          </a:xfrm>
          <a:prstGeom prst="rect">
            <a:avLst/>
          </a:prstGeom>
          <a:solidFill>
            <a:srgbClr val="142B1E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65760" y="4965192"/>
            <a:ext cx="8412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4048" y="5015484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"If the demo is strong, everything else is believable."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31152" y="-384048"/>
            <a:ext cx="3511296" cy="3511296"/>
          </a:xfrm>
          <a:prstGeom prst="ellipse">
            <a:avLst/>
          </a:prstGeom>
          <a:solidFill>
            <a:srgbClr val="FFC84A">
              <a:alpha val="8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43216" y="128016"/>
            <a:ext cx="2487168" cy="2487168"/>
          </a:xfrm>
          <a:prstGeom prst="ellipse">
            <a:avLst/>
          </a:prstGeom>
          <a:solidFill>
            <a:srgbClr val="FFC84A">
              <a:alpha val="20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566928"/>
            <a:ext cx="1609344" cy="1609344"/>
          </a:xfrm>
          <a:prstGeom prst="ellipse">
            <a:avLst/>
          </a:prstGeom>
          <a:solidFill>
            <a:srgbClr val="FFC84A">
              <a:alpha val="40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49808" y="2907792"/>
            <a:ext cx="2414016" cy="2414016"/>
          </a:xfrm>
          <a:prstGeom prst="ellipse">
            <a:avLst/>
          </a:prstGeom>
          <a:solidFill>
            <a:srgbClr val="00E87A">
              <a:alpha val="6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97764" y="3259836"/>
            <a:ext cx="1709928" cy="1709928"/>
          </a:xfrm>
          <a:prstGeom prst="ellipse">
            <a:avLst/>
          </a:prstGeom>
          <a:solidFill>
            <a:srgbClr val="00E87A">
              <a:alpha val="15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6012" y="3561588"/>
            <a:ext cx="1106424" cy="1106424"/>
          </a:xfrm>
          <a:prstGeom prst="ellipse">
            <a:avLst/>
          </a:prstGeom>
          <a:solidFill>
            <a:srgbClr val="00E87A">
              <a:alpha val="3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solidFill>
            <a:srgbClr val="FFC84A">
              <a:alpha val="18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7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TEAM MEMBERS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SmartZoo AI Team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20624" y="1078992"/>
            <a:ext cx="8412480" cy="1298448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005840"/>
            <a:ext cx="8412480" cy="1298448"/>
          </a:xfrm>
          <a:prstGeom prst="rect">
            <a:avLst/>
          </a:prstGeom>
          <a:solidFill>
            <a:srgbClr val="112219"/>
          </a:solidFill>
          <a:ln w="1905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005840"/>
            <a:ext cx="8412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056132"/>
            <a:ext cx="50474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1124712"/>
            <a:ext cx="868680" cy="868680"/>
          </a:xfrm>
          <a:prstGeom prst="ellipse">
            <a:avLst/>
          </a:prstGeom>
          <a:solidFill>
            <a:srgbClr val="FFC84A">
              <a:alpha val="20000"/>
            </a:srgbClr>
          </a:solidFill>
          <a:ln w="19050">
            <a:solidFill>
              <a:srgbClr val="FFC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133856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81328" y="10789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Amaan Ali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81328" y="1417320"/>
            <a:ext cx="1371600" cy="201168"/>
          </a:xfrm>
          <a:prstGeom prst="rect">
            <a:avLst/>
          </a:prstGeom>
          <a:solidFill>
            <a:srgbClr val="FFC84A">
              <a:alpha val="20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1328" y="1417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490472" y="164134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09344" y="15819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 &amp; Development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90472" y="1851660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9344" y="1792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Model Training &amp; Integration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90472" y="2061972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9344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 (animals_data.json)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1641348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15819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Whisper STT Integration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1851660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179222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Helsinki-NLP Urdu Translation Pipeline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37760" y="2061972"/>
            <a:ext cx="64008" cy="64008"/>
          </a:xfrm>
          <a:prstGeom prst="ellipse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2002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 Design &amp; Deployment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0624" y="2496312"/>
            <a:ext cx="2011680" cy="235915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2423160"/>
            <a:ext cx="2011680" cy="2359152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423160"/>
            <a:ext cx="20116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2473452"/>
            <a:ext cx="120700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2587752"/>
            <a:ext cx="804672" cy="804672"/>
          </a:xfrm>
          <a:prstGeom prst="ellipse">
            <a:avLst/>
          </a:prstGeom>
          <a:solidFill>
            <a:srgbClr val="00E87A">
              <a:alpha val="20000"/>
            </a:srgbClr>
          </a:solidFill>
          <a:ln w="19050">
            <a:solidFill>
              <a:srgbClr val="00E8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25877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38912" y="34747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Zeb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" y="3904488"/>
            <a:ext cx="1371600" cy="201168"/>
          </a:xfrm>
          <a:prstGeom prst="rect">
            <a:avLst/>
          </a:prstGeom>
          <a:solidFill>
            <a:srgbClr val="00E87A">
              <a:alpha val="18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" y="4219956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" y="41605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3776" y="4402836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" y="43434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Verification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3776" y="4585716"/>
            <a:ext cx="64008" cy="64008"/>
          </a:xfrm>
          <a:prstGeom prst="ellipse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4526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Feedback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87752" y="2496312"/>
            <a:ext cx="2011680" cy="235915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32888" y="2423160"/>
            <a:ext cx="2011680" cy="2359152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532888" y="2423160"/>
            <a:ext cx="201168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51176" y="2473452"/>
            <a:ext cx="120700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7248" y="2587752"/>
            <a:ext cx="804672" cy="804672"/>
          </a:xfrm>
          <a:prstGeom prst="ellipse">
            <a:avLst/>
          </a:prstGeom>
          <a:solidFill>
            <a:srgbClr val="00C4B4">
              <a:alpha val="20000"/>
            </a:srgbClr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27248" y="25877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56" name="Text 54"/>
          <p:cNvSpPr/>
          <p:nvPr/>
        </p:nvSpPr>
        <p:spPr>
          <a:xfrm>
            <a:off x="2606040" y="34747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Menahil Junaid Khan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852928" y="3904488"/>
            <a:ext cx="1371600" cy="201168"/>
          </a:xfrm>
          <a:prstGeom prst="rect">
            <a:avLst/>
          </a:prstGeom>
          <a:solidFill>
            <a:srgbClr val="00C4B4">
              <a:alpha val="18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52928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660904" y="4219956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79776" y="41605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Testing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660904" y="4402836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79776" y="43434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Verification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660904" y="4585716"/>
            <a:ext cx="64008" cy="64008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79776" y="4526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Feedback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2496312"/>
            <a:ext cx="2011680" cy="235915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00016" y="2423160"/>
            <a:ext cx="2011680" cy="2359152"/>
          </a:xfrm>
          <a:prstGeom prst="rect">
            <a:avLst/>
          </a:prstGeom>
          <a:solidFill>
            <a:srgbClr val="0D1E14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00016" y="2423160"/>
            <a:ext cx="201168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18304" y="2473452"/>
            <a:ext cx="120700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294376" y="2587752"/>
            <a:ext cx="804672" cy="804672"/>
          </a:xfrm>
          <a:prstGeom prst="ellipse">
            <a:avLst/>
          </a:prstGeom>
          <a:solidFill>
            <a:srgbClr val="FF5E7D">
              <a:alpha val="20000"/>
            </a:srgbClr>
          </a:solidFill>
          <a:ln w="19050">
            <a:solidFill>
              <a:srgbClr val="FF5E7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94376" y="25877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71" name="Text 69"/>
          <p:cNvSpPr/>
          <p:nvPr/>
        </p:nvSpPr>
        <p:spPr>
          <a:xfrm>
            <a:off x="4773168" y="34747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Masooma Fatima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020056" y="3904488"/>
            <a:ext cx="1371600" cy="201168"/>
          </a:xfrm>
          <a:prstGeom prst="rect">
            <a:avLst/>
          </a:prstGeom>
          <a:solidFill>
            <a:srgbClr val="FF5E7D">
              <a:alpha val="18000"/>
            </a:srgbClr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0056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828032" y="4219956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46904" y="41605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Testing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828032" y="4402836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46904" y="43434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Verification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828032" y="4585716"/>
            <a:ext cx="64008" cy="64008"/>
          </a:xfrm>
          <a:prstGeom prst="ellipse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46904" y="4526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Feedback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922008" y="2496312"/>
            <a:ext cx="2011680" cy="2359152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67144" y="2423160"/>
            <a:ext cx="2011680" cy="2359152"/>
          </a:xfrm>
          <a:prstGeom prst="rect">
            <a:avLst/>
          </a:prstGeom>
          <a:solidFill>
            <a:srgbClr val="0D1E14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67144" y="2423160"/>
            <a:ext cx="201168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85432" y="2473452"/>
            <a:ext cx="120700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61504" y="2587752"/>
            <a:ext cx="804672" cy="804672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61504" y="25877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86" name="Text 84"/>
          <p:cNvSpPr/>
          <p:nvPr/>
        </p:nvSpPr>
        <p:spPr>
          <a:xfrm>
            <a:off x="6940296" y="3474720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 Ali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87184" y="3904488"/>
            <a:ext cx="1371600" cy="201168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87184" y="3904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995160" y="4219956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14032" y="41605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Testing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995160" y="4402836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14032" y="434340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Verification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995160" y="4585716"/>
            <a:ext cx="64008" cy="6400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114032" y="45262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Feedback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9304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4884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867912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727448"/>
            <a:ext cx="9144000" cy="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214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821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428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643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3250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8464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12864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88936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0"/>
            <a:ext cx="0" cy="5143500"/>
          </a:xfrm>
          <a:prstGeom prst="line">
            <a:avLst/>
          </a:prstGeom>
          <a:noFill/>
          <a:ln w="3810">
            <a:solidFill>
              <a:srgbClr val="00E87A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-731520"/>
            <a:ext cx="6583680" cy="6583680"/>
          </a:xfrm>
          <a:prstGeom prst="ellipse">
            <a:avLst/>
          </a:prstGeom>
          <a:solidFill>
            <a:srgbClr val="00E87A">
              <a:alpha val="8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228600"/>
            <a:ext cx="4663440" cy="4663440"/>
          </a:xfrm>
          <a:prstGeom prst="ellipse">
            <a:avLst/>
          </a:prstGeom>
          <a:solidFill>
            <a:srgbClr val="00E87A">
              <a:alpha val="2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00E87A">
              <a:alpha val="40000"/>
            </a:srgbClr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-731520" y="-731520"/>
            <a:ext cx="3291840" cy="3291840"/>
          </a:xfrm>
          <a:prstGeom prst="ellipse">
            <a:avLst/>
          </a:prstGeom>
          <a:solidFill>
            <a:srgbClr val="00C4B4">
              <a:alpha val="6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251460" y="-251460"/>
            <a:ext cx="2331720" cy="2331720"/>
          </a:xfrm>
          <a:prstGeom prst="ellipse">
            <a:avLst/>
          </a:prstGeom>
          <a:solidFill>
            <a:srgbClr val="00C4B4">
              <a:alpha val="1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0020" y="160020"/>
            <a:ext cx="1508760" cy="1508760"/>
          </a:xfrm>
          <a:prstGeom prst="ellipse">
            <a:avLst/>
          </a:prstGeom>
          <a:solidFill>
            <a:srgbClr val="00C4B4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12864" y="3255264"/>
            <a:ext cx="2633472" cy="2633472"/>
          </a:xfrm>
          <a:prstGeom prst="ellipse">
            <a:avLst/>
          </a:prstGeom>
          <a:solidFill>
            <a:srgbClr val="FFC84A">
              <a:alpha val="7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96912" y="3639312"/>
            <a:ext cx="1865376" cy="1865376"/>
          </a:xfrm>
          <a:prstGeom prst="ellipse">
            <a:avLst/>
          </a:prstGeom>
          <a:solidFill>
            <a:srgbClr val="FFC84A">
              <a:alpha val="175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6096" y="3968496"/>
            <a:ext cx="1207008" cy="1207008"/>
          </a:xfrm>
          <a:prstGeom prst="ellipse">
            <a:avLst/>
          </a:prstGeom>
          <a:solidFill>
            <a:srgbClr val="FFC84A">
              <a:alpha val="35000"/>
            </a:srgbClr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0"/>
            <a:ext cx="3054096" cy="54864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54096" y="0"/>
            <a:ext cx="3054096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0"/>
            <a:ext cx="3035808" cy="54864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71600" y="502920"/>
            <a:ext cx="6400800" cy="4160520"/>
          </a:xfrm>
          <a:prstGeom prst="rect">
            <a:avLst/>
          </a:prstGeom>
          <a:solidFill>
            <a:srgbClr val="0A1810">
              <a:alpha val="65000"/>
            </a:srgbClr>
          </a:solidFill>
          <a:ln w="10160">
            <a:solidFill>
              <a:srgbClr val="00E87A"/>
            </a:solidFill>
            <a:prstDash val="solid"/>
          </a:ln>
          <a:effectLst>
            <a:outerShdw blurRad="381000" dist="1016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371600" y="502920"/>
            <a:ext cx="6400800" cy="2286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68580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🦁</a:t>
            </a:r>
            <a:endParaRPr lang="en-US" sz="5600" dirty="0"/>
          </a:p>
        </p:txBody>
      </p:sp>
      <p:sp>
        <p:nvSpPr>
          <p:cNvPr id="45" name="Text 43"/>
          <p:cNvSpPr/>
          <p:nvPr/>
        </p:nvSpPr>
        <p:spPr>
          <a:xfrm>
            <a:off x="1463040" y="1572768"/>
            <a:ext cx="6217920" cy="749808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46" name="Shape 44"/>
          <p:cNvSpPr/>
          <p:nvPr/>
        </p:nvSpPr>
        <p:spPr>
          <a:xfrm>
            <a:off x="2286000" y="2359152"/>
            <a:ext cx="4572000" cy="36576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243230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SmartZoo AI combines computer vision and generative AI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E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wildlife knowledge fast, accessible, and interactive for everyone.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066544" y="3163824"/>
            <a:ext cx="1554480" cy="82296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0" y="3090672"/>
            <a:ext cx="1554480" cy="822960"/>
          </a:xfrm>
          <a:prstGeom prst="rect">
            <a:avLst/>
          </a:prstGeom>
          <a:solidFill>
            <a:srgbClr val="0D1E14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011680" y="3090672"/>
            <a:ext cx="15544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29968" y="3140964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0" y="3127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2011680" y="35387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895344" y="3163824"/>
            <a:ext cx="1554480" cy="82296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0" y="3090672"/>
            <a:ext cx="1554480" cy="822960"/>
          </a:xfrm>
          <a:prstGeom prst="rect">
            <a:avLst/>
          </a:prstGeom>
          <a:solidFill>
            <a:srgbClr val="0D1E14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840480" y="3090672"/>
            <a:ext cx="155448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58768" y="3140964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0" y="3127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3840480" y="35387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724144" y="3163824"/>
            <a:ext cx="1554480" cy="82296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669280" y="3090672"/>
            <a:ext cx="1554480" cy="822960"/>
          </a:xfrm>
          <a:prstGeom prst="rect">
            <a:avLst/>
          </a:prstGeom>
          <a:solidFill>
            <a:srgbClr val="0D1E14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669280" y="3090672"/>
            <a:ext cx="1554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87568" y="3140964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0" y="3127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5669280" y="35387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828800" y="4041648"/>
            <a:ext cx="5486400" cy="0"/>
          </a:xfrm>
          <a:prstGeom prst="line">
            <a:avLst/>
          </a:prstGeom>
          <a:noFill/>
          <a:ln w="6350">
            <a:solidFill>
              <a:srgbClr val="00E87A">
                <a:alpha val="4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63040" y="409651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Leader: Syed Amaan Ali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463040" y="4334256"/>
            <a:ext cx="6217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Sana Zeb  ·  Menahil Junaid Khan  ·  Masooma Fatima  ·  Ashraf Ali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20624" y="4700016"/>
            <a:ext cx="1554480" cy="41148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4626864"/>
            <a:ext cx="1554480" cy="411480"/>
          </a:xfrm>
          <a:prstGeom prst="rect">
            <a:avLst/>
          </a:prstGeom>
          <a:solidFill>
            <a:srgbClr val="142B1E"/>
          </a:solidFill>
          <a:ln w="12700">
            <a:solidFill>
              <a:srgbClr val="00E87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65760" y="4626864"/>
            <a:ext cx="1554480" cy="50292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4048" y="4677156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E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 Accuracy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103120" y="4700016"/>
            <a:ext cx="1554480" cy="41148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48256" y="4626864"/>
            <a:ext cx="1554480" cy="411480"/>
          </a:xfrm>
          <a:prstGeom prst="rect">
            <a:avLst/>
          </a:prstGeom>
          <a:solidFill>
            <a:srgbClr val="142B1E"/>
          </a:solidFill>
          <a:ln w="12700">
            <a:solidFill>
              <a:srgbClr val="00C4B4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048256" y="4626864"/>
            <a:ext cx="1554480" cy="5029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066544" y="4677156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48256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 Species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85616" y="4700016"/>
            <a:ext cx="1554480" cy="41148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730752" y="4626864"/>
            <a:ext cx="1554480" cy="411480"/>
          </a:xfrm>
          <a:prstGeom prst="rect">
            <a:avLst/>
          </a:prstGeom>
          <a:solidFill>
            <a:srgbClr val="142B1E"/>
          </a:solidFill>
          <a:ln w="12700">
            <a:solidFill>
              <a:srgbClr val="FFC84A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730752" y="4626864"/>
            <a:ext cx="1554480" cy="50292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749040" y="4677156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30752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C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Languages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468112" y="4700016"/>
            <a:ext cx="1554480" cy="41148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13248" y="4626864"/>
            <a:ext cx="1554480" cy="411480"/>
          </a:xfrm>
          <a:prstGeom prst="rect">
            <a:avLst/>
          </a:prstGeom>
          <a:solidFill>
            <a:srgbClr val="142B1E"/>
          </a:solidFill>
          <a:ln w="12700">
            <a:solidFill>
              <a:srgbClr val="8B5CF6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5413248" y="4626864"/>
            <a:ext cx="155448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31536" y="4677156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13248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AI Models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150608" y="4700016"/>
            <a:ext cx="1554480" cy="411480"/>
          </a:xfrm>
          <a:prstGeom prst="rect">
            <a:avLst/>
          </a:prstGeom>
          <a:solidFill>
            <a:srgbClr val="000000">
              <a:alpha val="3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095744" y="4626864"/>
            <a:ext cx="1554480" cy="411480"/>
          </a:xfrm>
          <a:prstGeom prst="rect">
            <a:avLst/>
          </a:prstGeom>
          <a:solidFill>
            <a:srgbClr val="142B1E"/>
          </a:solidFill>
          <a:ln w="12700">
            <a:solidFill>
              <a:srgbClr val="FF5E7D"/>
            </a:solidFill>
            <a:prstDash val="solid"/>
          </a:ln>
          <a:effectLst>
            <a:outerShdw blurRad="203200" dist="635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7095744" y="4626864"/>
            <a:ext cx="1554480" cy="50292"/>
          </a:xfrm>
          <a:prstGeom prst="rect">
            <a:avLst/>
          </a:prstGeom>
          <a:solidFill>
            <a:srgbClr val="FF5E7D"/>
          </a:solidFill>
          <a:ln w="12700">
            <a:solidFill>
              <a:srgbClr val="FF5E7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14032" y="4677156"/>
            <a:ext cx="932688" cy="16459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95744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&lt;0.1s  Speed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0" y="5079492"/>
            <a:ext cx="3054096" cy="64008"/>
          </a:xfrm>
          <a:prstGeom prst="rect">
            <a:avLst/>
          </a:prstGeom>
          <a:solidFill>
            <a:srgbClr val="00E87A"/>
          </a:solidFill>
          <a:ln w="12700">
            <a:solidFill>
              <a:srgbClr val="00E87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054096" y="5079492"/>
            <a:ext cx="3054096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108192" y="5079492"/>
            <a:ext cx="3035808" cy="64008"/>
          </a:xfrm>
          <a:prstGeom prst="rect">
            <a:avLst/>
          </a:prstGeom>
          <a:solidFill>
            <a:srgbClr val="FFC84A"/>
          </a:solidFill>
          <a:ln w="12700">
            <a:solidFill>
              <a:srgbClr val="FFC8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Microsoft Office PowerPoint</Application>
  <PresentationFormat>On-screen Show (16:9)</PresentationFormat>
  <Paragraphs>208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SmartZoo AI - RAG Bilingual Animal Classifier</dc:title>
  <dc:subject>PptxGenJS Presentation</dc:subject>
  <dc:creator>PptxGenJS</dc:creator>
  <cp:lastModifiedBy>AMAAN</cp:lastModifiedBy>
  <cp:revision>2</cp:revision>
  <dcterms:created xsi:type="dcterms:W3CDTF">2026-05-03T09:40:41Z</dcterms:created>
  <dcterms:modified xsi:type="dcterms:W3CDTF">2026-05-03T09:45:55Z</dcterms:modified>
</cp:coreProperties>
</file>